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592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rletcorn757.grafana.net/public-dashboards/ec4dd23ed92948348c9586e49122697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uiding-monster-publicly.ngrok-free.app/c/new?endpoint=ollama&amp;model=gpt-oss&amp;projectId=6a6e2bdbed5b4a34774a88cf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</a:rPr>
              <a:t>Clicktick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6B35"/>
                </a:solidFill>
              </a:rPr>
              <a:t>Real-time Concurrency Analytics at Streaming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8E8"/>
                </a:solidFill>
              </a:rPr>
              <a:t>Vikash Kumar  ·  Muni Siva  |  Click-a-thon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Core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Problem: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9144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Count truly active viewers (foreground only) at scale—excluding paused, backgrounded, and idle sessions—while staying sub-second for dashboards and absorbing continuous heartbeat updates.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43789"/>
            <a:ext cx="8229600" cy="2525843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8"/>
                </a:solidFill>
              </a:rPr>
              <a:t>Our Approach: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Normalized active intervals: Never modify a closed interval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86207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Per-minute concurrency deltas: Pre-aggregated +1/-1 events for fast peak/avg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0098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Lightweight open-session tracking: New heartbeats update only last_seen_ts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73989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ClickHouse materialized views: Incremental aggregation, partition pruning, dimension-aware filtering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Architecture: Ingestion → Aggregation → Serving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2743200"/>
          </a:xfrm>
          <a:prstGeom prst="rect">
            <a:avLst/>
          </a:prstGeom>
          <a:solidFill>
            <a:srgbClr val="E3F2FD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Raw Events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Heartbeats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Play/Pause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BG/FG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423160"/>
            <a:ext cx="32004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2011680" cy="2743200"/>
          </a:xfrm>
          <a:prstGeom prst="rect">
            <a:avLst/>
          </a:prstGeom>
          <a:solidFill>
            <a:srgbClr val="BBDEFB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Normalize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Active Intervals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Deltas (+1/-1)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Open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423160"/>
            <a:ext cx="32004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2011680" cy="2743200"/>
          </a:xfrm>
          <a:prstGeom prst="rect">
            <a:avLst/>
          </a:prstGeom>
          <a:solidFill>
            <a:srgbClr val="90CAF9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Pre-aggregate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Minute Concurrency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Peak/Avg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Dimensions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2423160"/>
            <a:ext cx="32004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2011680" cy="2743200"/>
          </a:xfrm>
          <a:prstGeom prst="rect">
            <a:avLst/>
          </a:prstGeom>
          <a:solidFill>
            <a:srgbClr val="64B5F6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Query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Grafana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</a:t>
            </a:r>
            <a:r>
              <a:rPr lang="en-US" sz="1100" dirty="0" err="1">
                <a:solidFill>
                  <a:srgbClr val="1A1A1A"/>
                </a:solidFill>
              </a:rPr>
              <a:t>LibreChat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• Sub-second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Why This Design Wins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37260"/>
            <a:ext cx="8229600" cy="1005840"/>
          </a:xfrm>
          <a:prstGeom prst="rect">
            <a:avLst/>
          </a:prstGeom>
          <a:solidFill>
            <a:srgbClr val="F9F9F9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94084"/>
            <a:ext cx="259330" cy="114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Speed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Serving tables are pre-aggregated minute deltas. Queries sum only relevant partitions (platform, date, content). No session history scan = sub-second dashboards.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9F9F9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571750"/>
            <a:ext cx="259330" cy="125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Heartbeat gaps, pauses, backgrounding all mapped to interval end-times. Only active ranges counted. Foreground-only by design.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9F9F9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829986"/>
            <a:ext cx="109428" cy="56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Incremental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Open sessions updated by last_seen_ts only. Closed intervals never reshapen. New heartbeats incrementally flow through MVs, no rebuild.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Model: Three Simple Tables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65051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session_active_intervals_clean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Source of truth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⟨video_session_id, interval_start, interval_end, platform, country, content_id⟩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concurrency_deltas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Pre-aggregated serving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⟨minute_bucket, +1/-1 delta, platform, country, content_id, video_type⟩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8"/>
                </a:solidFill>
              </a:rPr>
              <a:t>open_session_intervals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65760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Live sessions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⟨session_id, interval_start, last_seen_ts, heartbeat_timeout⟩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Filter-Fast: Dimensions Embedded in Serving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</a:rPr>
              <a:t>Every filter dimension is a sort key + partition strategy in concurrency_deltas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463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JIO_ANDROID_TV, ANDROID_PHONE, IPHONE, 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Partition key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Country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IN, US, UK, 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Sort key cluster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Content 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Numeric, zero hash collisions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Index for slicing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Grain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520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</a:rPr>
              <a:t>Minute partitions by 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Date-based pruning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Result: Any filter combination queries only relevant blocks. No full table scan.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Validated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Concurrency Accuracy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097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Foreground-only, excludes paused/BG/idle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Peak Concurrency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Max over minute/hour/day grains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Average Concurrency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377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Arithmetic mean validated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Query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Sub-second on minute-grain with filters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Live Session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657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✓ Incremental heartbeat absorption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Conversational Interface: Natural Language on Concurrency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9F9F9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LibreChat + ClickHouse MCP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💬 "What was peak concurrency on Android during the live event?"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💬 "Show average concurrency by country for India vs Pakistan."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💬 "Which platform had the most viewers in the last hour?"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💬 "Alert me if concurrency drops &gt;20% in the next 30 minutes."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F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8"/>
                </a:solidFill>
              </a:rPr>
              <a:t>📊 Grafana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Real-time active 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Peak concurrency/platform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Minute-grain trends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Dimension filtering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💬 LibreChat + MCP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Natural language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ClickHouse SQL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Sub-second responses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✓ No schema needed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800" dirty="0"/>
              <a:t>Dashboard - </a:t>
            </a:r>
            <a:r>
              <a:rPr lang="en-IN" sz="800" dirty="0">
                <a:hlinkClick r:id="rId3"/>
              </a:rPr>
              <a:t>https://scarletcorn757.grafana.net/public-dashboards/ec4dd23ed92948348c9586e491226971</a:t>
            </a:r>
            <a:endParaRPr lang="en-IN" sz="800" dirty="0"/>
          </a:p>
          <a:p>
            <a:r>
              <a:rPr lang="en-IN" sz="800" dirty="0" err="1"/>
              <a:t>Librechat</a:t>
            </a:r>
            <a:r>
              <a:rPr lang="en-IN" sz="800" dirty="0"/>
              <a:t> with </a:t>
            </a:r>
            <a:r>
              <a:rPr lang="en-IN" sz="800" dirty="0" err="1"/>
              <a:t>clicktick</a:t>
            </a:r>
            <a:r>
              <a:rPr lang="en-IN" sz="800" dirty="0"/>
              <a:t> bot - </a:t>
            </a:r>
            <a:r>
              <a:rPr lang="en-IN" sz="800" dirty="0">
                <a:hlinkClick r:id="rId4"/>
              </a:rPr>
              <a:t>https://guiding-monster-</a:t>
            </a:r>
            <a:r>
              <a:rPr lang="en-IN" sz="800" dirty="0" err="1">
                <a:hlinkClick r:id="rId4"/>
              </a:rPr>
              <a:t>publicly.ngrok</a:t>
            </a:r>
            <a:r>
              <a:rPr lang="en-IN" sz="800" dirty="0">
                <a:hlinkClick r:id="rId4"/>
              </a:rPr>
              <a:t>-</a:t>
            </a:r>
            <a:r>
              <a:rPr lang="en-IN" sz="800" dirty="0" err="1">
                <a:hlinkClick r:id="rId4"/>
              </a:rPr>
              <a:t>free.app</a:t>
            </a:r>
            <a:r>
              <a:rPr lang="en-IN" sz="800" dirty="0">
                <a:hlinkClick r:id="rId4"/>
              </a:rPr>
              <a:t>/c/</a:t>
            </a:r>
            <a:r>
              <a:rPr lang="en-IN" sz="800" dirty="0" err="1">
                <a:hlinkClick r:id="rId4"/>
              </a:rPr>
              <a:t>new?endpoint</a:t>
            </a:r>
            <a:r>
              <a:rPr lang="en-IN" sz="800" dirty="0">
                <a:hlinkClick r:id="rId4"/>
              </a:rPr>
              <a:t>=</a:t>
            </a:r>
            <a:r>
              <a:rPr lang="en-IN" sz="800" dirty="0" err="1">
                <a:hlinkClick r:id="rId4"/>
              </a:rPr>
              <a:t>ollama&amp;model</a:t>
            </a:r>
            <a:r>
              <a:rPr lang="en-IN" sz="800" dirty="0">
                <a:hlinkClick r:id="rId4"/>
              </a:rPr>
              <a:t>=</a:t>
            </a:r>
            <a:r>
              <a:rPr lang="en-IN" sz="800" dirty="0" err="1">
                <a:hlinkClick r:id="rId4"/>
              </a:rPr>
              <a:t>gpt-oss&amp;projectId</a:t>
            </a:r>
            <a:r>
              <a:rPr lang="en-IN" sz="800" dirty="0">
                <a:hlinkClick r:id="rId4"/>
              </a:rPr>
              <a:t>=6a6e2bdbed5b4a34774a88cf</a:t>
            </a:r>
            <a:endParaRPr lang="en-IN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Email: kvvik2020@gmail.com  |  Password: clicktick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Accurate • Fast • Scalable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6B35"/>
                </a:solidFill>
              </a:rPr>
              <a:t>Foreground-only streaming concurrency at petabyte scale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8E8"/>
                </a:solidFill>
              </a:rPr>
              <a:t>Team Clicktick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</a:rPr>
              <a:t>Vikash Kumar  ·  Muni Siva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645</Words>
  <Application>Microsoft Macintosh PowerPoint</Application>
  <PresentationFormat>On-screen Show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Vikash Kumar</cp:lastModifiedBy>
  <cp:revision>2</cp:revision>
  <dcterms:created xsi:type="dcterms:W3CDTF">2026-08-02T05:12:27Z</dcterms:created>
  <dcterms:modified xsi:type="dcterms:W3CDTF">2026-08-02T05:20:11Z</dcterms:modified>
</cp:coreProperties>
</file>